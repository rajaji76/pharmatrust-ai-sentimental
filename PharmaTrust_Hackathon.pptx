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PharmaTrust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4FF"/>
                </a:solidFill>
              </a:rPr>
              <a:t>Pharmaceutical Supply Chain Security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29000"/>
            <a:ext cx="57881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Blockchain  ·  AI Anomaly Detection  ·  QR Anti-Cloning  ·  Cloud-Native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C3AED"/>
                </a:solidFill>
              </a:rPr>
              <a:t>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4D4D"/>
                </a:solidFill>
              </a:rPr>
              <a:t>$200B+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Annual loss from counterfeit drugs globally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5778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4864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4D4D"/>
                </a:solidFill>
              </a:rPr>
              <a:t>1 in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Medicines in developing countries are substandard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79"/>
            <a:ext cx="55778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79"/>
            <a:ext cx="54864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4D4D"/>
                </a:solidFill>
              </a:rPr>
              <a:t>~1M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Deaths per year linked to fake pharmaceuticals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83279"/>
            <a:ext cx="55778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383279"/>
            <a:ext cx="54864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4D4D"/>
                </a:solidFill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Current supply chain tracking is paper-based &amp; fragile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🔗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Immutable batch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Merkle root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99.99% gas cost reduction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65176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🤖 AI 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Impossible travel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Auto kill-switch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Real-time risk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65176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</a:rPr>
              <a:t>📱 QR Anti-Clone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Protobuf compact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ECDSA digital 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Offline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188720"/>
            <a:ext cx="265176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188720"/>
            <a:ext cx="26517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</a:rPr>
              <a:t>☁️ Cloud-Native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AWS S3 lab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77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PostgreSQL production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RabbitMQ async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Manufacturer · Distributor · Pharmacist · Regulator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317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274552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Spring Boot · JWT Auth Filter ·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566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1274552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" cy="10515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</a:rPr>
              <a:t>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Auth · Batch · QR · Crypto · AI Sentinel · Storage · Blockchain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8006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1274552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54864" cy="10515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</a:rPr>
              <a:t>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PostgreSQL · AWS S3 · Blockchain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 —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468880" cy="5943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🏭 Manufacturer
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960120"/>
            <a:ext cx="2468880" cy="5943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🚚 Distributor
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960120"/>
            <a:ext cx="2468880" cy="594360"/>
          </a:xfrm>
          <a:prstGeom prst="rect">
            <a:avLst/>
          </a:prstGeom>
          <a:solidFill>
            <a:srgbClr val="00E596"/>
          </a:solidFill>
          <a:ln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💊 Pharmacist
Scanner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960120"/>
            <a:ext cx="2468880" cy="59436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🏛️ Regulator
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81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81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581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581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475488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⚡ Spring Boot API 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394960" cy="475488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3AED"/>
                </a:solidFill>
              </a:rPr>
              <a:t>🔐 JWT Authentication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2468880" cy="64008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D4FF"/>
                </a:solidFill>
              </a:rPr>
              <a:t>AUTH
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606040"/>
            <a:ext cx="2468880" cy="64008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C3AED"/>
                </a:solidFill>
              </a:rPr>
              <a:t>BATCH
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606040"/>
            <a:ext cx="2468880" cy="64008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QR Code
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606040"/>
            <a:ext cx="2468880" cy="64008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A500"/>
                </a:solidFill>
              </a:rPr>
              <a:t>CRYPTO
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429000"/>
            <a:ext cx="246888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9B4"/>
                </a:solidFill>
              </a:rPr>
              <a:t>AI Sentinel
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246888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CED1"/>
                </a:solidFill>
              </a:rPr>
              <a:t>STORAGE
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429000"/>
            <a:ext cx="246888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00"/>
                </a:solidFill>
              </a:rPr>
              <a:t>BLOCKCHAIN
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507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0507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0507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40507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15968"/>
            <a:ext cx="2377440" cy="6400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🗄️ PostgreSQL
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315968"/>
            <a:ext cx="2377440" cy="6400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☁️ AWS S3
Bucket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315968"/>
            <a:ext cx="2377440" cy="640080"/>
          </a:xfrm>
          <a:prstGeom prst="rect">
            <a:avLst/>
          </a:prstGeom>
          <a:solidFill>
            <a:srgbClr val="00E596"/>
          </a:solidFill>
          <a:ln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⛓️ Blockchain
Network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4315968"/>
            <a:ext cx="2377440" cy="64008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📨 RabbitMQ
Job 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AUTH→PG  |  BATCH→PG  |  QR→PG  |  STORAGE→S3  |  BLOCKCHAIN→BC  |  AI→PG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Digital Signature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11680" cy="6858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🏭
Manufacturer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914400"/>
            <a:ext cx="2011680" cy="685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⚡
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2011680" cy="685800"/>
          </a:xfrm>
          <a:prstGeom prst="rect">
            <a:avLst/>
          </a:prstGeom>
          <a:solidFill>
            <a:srgbClr val="00E596"/>
          </a:solidFill>
          <a:ln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🔐
Crypto
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914400"/>
            <a:ext cx="2011680" cy="68580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🗄️
DB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914400"/>
            <a:ext cx="2011680" cy="685800"/>
          </a:xfrm>
          <a:prstGeom prst="rect">
            <a:avLst/>
          </a:prstGeom>
          <a:solidFill>
            <a:srgbClr val="00CED1"/>
          </a:solidFill>
          <a:ln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1B2A"/>
                </a:solidFill>
              </a:rPr>
              <a:t>⛓️
Blockchain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1016" y="1600200"/>
            <a:ext cx="18288" cy="4846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8456" y="1600200"/>
            <a:ext cx="18288" cy="4846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25896" y="1600200"/>
            <a:ext cx="18288" cy="4846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03336" y="1600200"/>
            <a:ext cx="18288" cy="4846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80776" y="1600200"/>
            <a:ext cx="18288" cy="4846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8448" y="1737360"/>
            <a:ext cx="23317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481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FF"/>
                </a:solidFill>
              </a:rPr>
              <a:t>Create Batch + Lab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16459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5887" y="2148840"/>
            <a:ext cx="233172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1892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3AED"/>
                </a:solidFill>
              </a:rPr>
              <a:t>generateHash(labReport)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C3AED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2487168"/>
            <a:ext cx="2331720" cy="182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5237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SHA-256 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596"/>
                </a:solidFill>
              </a:rPr>
              <a:t>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7" y="2834640"/>
            <a:ext cx="233172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2578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3AED"/>
                </a:solidFill>
              </a:rPr>
              <a:t>signData(batchData, privateKey)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C3AED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3172968"/>
            <a:ext cx="2331720" cy="182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32095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Digital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127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596"/>
                </a:solidFill>
              </a:rPr>
              <a:t>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75887" y="3520440"/>
            <a:ext cx="4709160" cy="182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3264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500"/>
                </a:solidFill>
              </a:rPr>
              <a:t>saveBatch(data, signature, hash)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A500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5887" y="3858768"/>
            <a:ext cx="7086600" cy="18288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3602735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ED1"/>
                </a:solidFill>
              </a:rPr>
              <a:t>mintToken(batchData, hash, signature)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37673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ED1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5887" y="4206240"/>
            <a:ext cx="7086600" cy="182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2428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Transaction ID (txId)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596"/>
                </a:solidFill>
              </a:rPr>
              <a:t>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5887" y="4544568"/>
            <a:ext cx="4709160" cy="182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4288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500"/>
                </a:solidFill>
              </a:rPr>
              <a:t>updateBatch(txId)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453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A500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98448" y="4892040"/>
            <a:ext cx="2331720" cy="182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4928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✅  Batch Created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484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596"/>
                </a:solidFill>
              </a:rPr>
              <a:t>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532120"/>
            <a:ext cx="11457432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052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🔑 Private Key (Manufacturer) signs data  |  ⛓️ Blockchain stores immutable token  |  🗄️ DB stores signature + hash + txId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Authentication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</a:rPr>
              <a:t>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D4FF"/>
                </a:solidFill>
              </a:rPr>
              <a:t>POST /auth/login
(username + password)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Receive JWT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246888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D4FF"/>
                </a:solidFill>
              </a:rPr>
              <a:t>GET /batches
(Bearer 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246888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Receive Batch Data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4813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0358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051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</a:rPr>
              <a:t>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C3AED"/>
                </a:solidFill>
              </a:rPr>
              <a:t>JWT Auth Filter
Validate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C3AED"/>
                </a:solidFill>
              </a:rPr>
              <a:t>Check Permission
(RBAC)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C3AED"/>
                </a:solidFill>
              </a:rPr>
              <a:t>Route to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C3AED"/>
                </a:solidFill>
              </a:rPr>
              <a:t>Return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4813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2585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051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96"/>
                </a:solidFill>
              </a:rPr>
              <a:t>AUTH SERVICE +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325880"/>
            <a:ext cx="320040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findUser(username)
from 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320040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verifyPassword
(BCrypt hash)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880360"/>
            <a:ext cx="320040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generateJWT
(user + role claims)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657600"/>
            <a:ext cx="3200400" cy="45720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96"/>
                </a:solidFill>
              </a:rPr>
              <a:t>Token → API →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572000"/>
            <a:ext cx="2560320" cy="54864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❌ Invalid Token?
→ 401 Unauthorized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4D4D"/>
                </a:solidFill>
              </a:rPr>
              <a:t>If token invalid 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QR Code Security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</a:rPr>
              <a:t>QR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Batch Data + Serial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ECDSA Sign (Private 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71215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Protobuf Encode → ~92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21024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Base64 URL 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70831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D4FF"/>
                </a:solidFill>
              </a:rPr>
              <a:t>Generate QR Code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9926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50292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596"/>
                </a:solidFill>
              </a:rPr>
              <a:t>Store in DB  |  max_scan=5  |  active=true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005840"/>
            <a:ext cx="36576" cy="548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</a:rPr>
              <a:t>QR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4864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3AED"/>
                </a:solidFill>
              </a:rPr>
              <a:t>Scan QR → Extract Base64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21408"/>
            <a:ext cx="54864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3AED"/>
                </a:solidFill>
              </a:rPr>
              <a:t>Decode Protobuf 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71215"/>
            <a:ext cx="54864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3AED"/>
                </a:solidFill>
              </a:rPr>
              <a:t>Verify ECDSA Signature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21024"/>
            <a:ext cx="54864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A500"/>
                </a:solidFill>
              </a:rPr>
              <a:t>Check: scan_count &lt; max_scan_limit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70831"/>
            <a:ext cx="5486400" cy="594360"/>
          </a:xfrm>
          <a:prstGeom prst="rect">
            <a:avLst/>
          </a:prstGeom>
          <a:solidFill>
            <a:srgbClr val="162A40"/>
          </a:solidFill>
          <a:ln>
            <a:solidFill>
              <a:srgbClr val="16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A500"/>
                </a:solidFill>
              </a:rPr>
              <a:t>Check: Geographic Anomaly (AI)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166360"/>
            <a:ext cx="2468880" cy="594360"/>
          </a:xfrm>
          <a:prstGeom prst="rect">
            <a:avLst/>
          </a:prstGeom>
          <a:solidFill>
            <a:srgbClr val="00E596"/>
          </a:solidFill>
          <a:ln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✅  VALID
Authentic Medicine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5166360"/>
            <a:ext cx="2468880" cy="59436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❌  FRAUD
Auto Kill-Switch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</a:rPr>
              <a:t>Pass ↙          Fail 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Supply Chain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03120" cy="5029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🏭  MANUFACTURER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103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6576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Create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49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Upload Lab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88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Sign + Blockchain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353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0312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✅  QC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737360"/>
            <a:ext cx="2103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737360"/>
            <a:ext cx="36576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810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Multi-Sig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249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Production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688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+ Quality 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353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1188720"/>
            <a:ext cx="2103120" cy="502920"/>
          </a:xfrm>
          <a:prstGeom prst="rect">
            <a:avLst/>
          </a:prstGeom>
          <a:solidFill>
            <a:srgbClr val="00E596"/>
          </a:solidFill>
          <a:ln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📦  DISTRIBUTOR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1737360"/>
            <a:ext cx="2103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59" y="1737360"/>
            <a:ext cx="36576" cy="1463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1810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Accept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249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Scan &amp;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688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Update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353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1188720"/>
            <a:ext cx="2103120" cy="50292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🏪  RETAILER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79" y="1737360"/>
            <a:ext cx="2103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79" y="1737360"/>
            <a:ext cx="36576" cy="1463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7" y="1810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Receive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7" y="2249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Verify QR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7" y="2688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Track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1353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1188720"/>
            <a:ext cx="2103120" cy="502920"/>
          </a:xfrm>
          <a:prstGeom prst="rect">
            <a:avLst/>
          </a:prstGeom>
          <a:solidFill>
            <a:srgbClr val="FF69B4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1B2A"/>
                </a:solidFill>
              </a:rPr>
              <a:t>💊  PATIENT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1737360"/>
            <a:ext cx="2103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1737360"/>
            <a:ext cx="36576" cy="14630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1810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Scan QR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249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Verify Authenticity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2688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Check Expiry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29000"/>
            <a:ext cx="116128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520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</a:rPr>
              <a:t>⛓️  BLOCKCHAIN LAYER  —  Immutable Record for Every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69080"/>
            <a:ext cx="1161288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4069080"/>
            <a:ext cx="1161288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60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4D4D"/>
                </a:solidFill>
              </a:rPr>
              <a:t>🤖  AI SENTINEL  —  Monitoring Every Scan in Real-Time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572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⚡ Impossible Travel Detection  →  Auto Kill-Switch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572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⚡ Simultaneous Multi-Location Scans  →  Immediate Recall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194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⚡ Device Fingerprint Mismatch  →  Alert + Manual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9194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⚡ Scan Count Exceeded  →  Unit Deactivated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5720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Multi-Sig Batch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Production Head + Quality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Digital signatures on every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Blockchain token minted on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45720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AI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Impossible travel (&gt;200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Simultaneous multi-location scans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Auto kill-switch triggers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45720" cy="2377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</a:rPr>
              <a:t>QR Anti-Cloning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ECDSA signed compact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Max scan limit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Offline signature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45720" cy="23774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</a:rPr>
              <a:t>Granular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Regulator sees only alerts/recalls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Manufacturer data stays private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Full audit trail for compliance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79476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794760"/>
            <a:ext cx="45720" cy="23774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9B4"/>
                </a:solidFill>
              </a:rPr>
              <a:t>Async Job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RabbitMQ background workers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Idempotent crash-safe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Real-time progress tracking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94760"/>
            <a:ext cx="36576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94760"/>
            <a:ext cx="45720" cy="2377440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ED1"/>
                </a:solidFill>
              </a:rPr>
              <a:t>Expiry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Automated expiry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Scheduled batch scanning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Proactive recall initiation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Java 17 + Spring Boot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Spring Security +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JPA / Hibernate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PostgreSQL (production)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Flyway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Redis caching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65760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657600"/>
            <a:ext cx="3657600" cy="411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703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React +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120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Axios REST 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365760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03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AWS S3 (lab reports)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Docker +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RabbitMQ queues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612648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6126480"/>
            <a:ext cx="3657600" cy="4114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61722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6675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ECDSA digital signatures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7178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SHA-256 hashing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7680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Protobuf QR payloads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6126480"/>
            <a:ext cx="36576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6126480"/>
            <a:ext cx="3657600" cy="411480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61722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Blockchain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675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Ethereum smart contracts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7178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Merkle root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7680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Web3j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5720" cy="5303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Authentication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1. Client → POST /auth/login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2. AuthService verifies BCrypt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3. JWT token generated with role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667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4. All requests validated via JWT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5. RBAC checks on every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6. Token blacklist on logout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94960" cy="5303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45720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QR Anti-Cloning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1. ECDSA sign: serial + batch + timestamp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0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2. Protobuf encode → ~92 bytes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0837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3. Base64 URL → QR code generated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667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4. Max 5 scans per unit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5. Geographic anomaly → auto kill-switch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6. Offline verify via cached public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Blockchain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💡  Key Innovation: Only Merkle Root stored on-chain → 99.99% gas cost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74552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4572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What's On-Chain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1460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Batch number · Medicine hash · Expiry date · Manufacturer address · Merkle root · Total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79"/>
            <a:ext cx="11274552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79"/>
            <a:ext cx="4572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What's Off-Chain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Individual unit data · Lab reports (S3) · Scan logs · Business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1274552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45720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</a:rPr>
              <a:t>Recall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6177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Emitted as blockchain events · Immutable audit trail · Auto-triggered by AI Sentinel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45720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59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</a:rPr>
              <a:t>Verification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66928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QR scan → Merkle proof → Blockchain root match → Cryptographic guarantee of authenticity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User Roles &amp;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🏭 Manufacturer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Create &amp; approve batches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Upload lab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Generate QR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Monitor expiry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65176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🚚 Distributor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Accept unit transfers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14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Scan &amp; verify QR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Track ownership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Report anomalies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65176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💊 Pharmacist / Patient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Scan QR to verify medicine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14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View batch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Check expiry &amp; recalls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Offline verification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188720"/>
            <a:ext cx="265176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188720"/>
            <a:ext cx="26517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500"/>
                </a:solidFill>
              </a:rPr>
              <a:t>🏛️ Regulator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View fraud alerts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514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Initiate emergency recalls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Access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• No business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Impact &amp; 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E596"/>
                </a:solidFill>
              </a:rPr>
              <a:t>99.99%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Blockchain gas cost reduction
via Merkle root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QR payload size reduction
Protobuf vs JSON (320→92 bytes)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</a:rPr>
              <a:t>&lt; 5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Fraud detection response time
AI Sentinel auto kill-switch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6576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A500"/>
                </a:solidFill>
              </a:rPr>
              <a:t>5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Complete RBAC coverage
Manufacturer to Regulator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657600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31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69B4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Crash-safe job processing
Idempotent unit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657600" cy="54864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931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CED1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Single point of failure
Distributed cloud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Manufacturer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JWT auth → role-based dashboard 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2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84832"/>
            <a:ext cx="77724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579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Create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6771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Upload lab report → S3 storage → SHA-256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80944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80944"/>
            <a:ext cx="777240" cy="777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18103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54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Multi-Sig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6382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Production Head + QC sign → blockchain token minted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77056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77056"/>
            <a:ext cx="7772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1421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50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500"/>
                </a:solidFill>
              </a:rPr>
              <a:t>QR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599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Async job → 10,000 units → Protobuf QR codes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73168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73168"/>
            <a:ext cx="77724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1032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9B4"/>
                </a:solidFill>
              </a:rPr>
              <a:t>Scan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95604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Pharmacist scans → AI checks → VALID / FRAUD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69280"/>
            <a:ext cx="11274552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669280"/>
            <a:ext cx="777240" cy="777240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806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42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ED1"/>
                </a:solidFill>
              </a:rPr>
              <a:t>Fraud Simulation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852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Impossible travel → auto kill-switch → regulator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60990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73152"/>
            <a:ext cx="6089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🏛️  Government Integration (Priority)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Planning to integrate with ABHA (Ayushman Bharat Health Account) — linking medicine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directly to patient health records for seamless, government-backed pharmaceutical traceability.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457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🏥  ABHA / NHA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Link medicine scans to ABHA health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083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NHA API integration for patient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009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PM-JAY scheme medicine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40280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240280"/>
            <a:ext cx="457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13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🤖  Advanced AI /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15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Predictive counterfeit detection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083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NLP-based complaint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009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Computer vision for label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45720" cy="13716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221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</a:rPr>
              <a:t>📱  Mobile App (Android/iOS)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245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Native QR scanner for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171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Offline-first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974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Multi-language support (Hindi, regional)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749039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749039"/>
            <a:ext cx="45720" cy="1371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8221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</a:rPr>
              <a:t>🌐  National Drug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245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Connect with CDSCO drug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171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Auto-validate approved medicines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0974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Real-time recall notifications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57800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257800"/>
            <a:ext cx="45720" cy="13716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330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9B4"/>
                </a:solidFill>
              </a:rPr>
              <a:t>⛓️  Multi-Chain Blockchain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733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Hyperledger for enterprise 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025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Cross-chain batch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3185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Smart contract auto-compliance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257800"/>
            <a:ext cx="557784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5257800"/>
            <a:ext cx="45720" cy="1371600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330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ED1"/>
                </a:solidFill>
              </a:rPr>
              <a:t>📊  Analytics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733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National supply chain heatmap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025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Counterfeit hotspot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63185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Regulator BI reports &amp; exports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57881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</a:rPr>
              <a:t>PharmaTrust AI  —  Securing Every Pill, Every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84048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🔗  Blockchain-verified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34340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🤖  AI-powered 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4632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📱  QR anti-cloning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C3AED"/>
                </a:solidFill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